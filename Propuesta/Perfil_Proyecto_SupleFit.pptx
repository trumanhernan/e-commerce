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6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9" r:id="rId10"/>
    <p:sldId id="267" r:id="rId11"/>
    <p:sldId id="270" r:id="rId12"/>
    <p:sldId id="271" r:id="rId13"/>
    <p:sldId id="272" r:id="rId14"/>
    <p:sldId id="273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4F779-F60A-4810-BA3D-8FDF006499A2}" type="datetimeFigureOut">
              <a:rPr lang="es-HN" smtClean="0"/>
              <a:t>9/10/2025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F12B9-9948-42B1-90B0-752B20A65AE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2644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ED4EB2-C9DF-4297-8283-DBEBE1FAFC28}" type="slidenum">
              <a:rPr lang="es-HN" smtClean="0"/>
              <a:t>1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1172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1856E388-C08A-48CD-A36E-D50C5B332A69}"/>
              </a:ext>
            </a:extLst>
          </p:cNvPr>
          <p:cNvGrpSpPr/>
          <p:nvPr userDrawn="1"/>
        </p:nvGrpSpPr>
        <p:grpSpPr>
          <a:xfrm>
            <a:off x="-1" y="13008"/>
            <a:ext cx="9144001" cy="6844992"/>
            <a:chOff x="-1" y="13008"/>
            <a:chExt cx="12192001" cy="6844992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A6B40AAF-61C7-4692-8D79-EB77B7BB84FB}"/>
                </a:ext>
              </a:extLst>
            </p:cNvPr>
            <p:cNvGrpSpPr/>
            <p:nvPr userDrawn="1"/>
          </p:nvGrpSpPr>
          <p:grpSpPr>
            <a:xfrm>
              <a:off x="-1" y="13008"/>
              <a:ext cx="12192001" cy="6844992"/>
              <a:chOff x="-1" y="13008"/>
              <a:chExt cx="12192001" cy="6844992"/>
            </a:xfrm>
          </p:grpSpPr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594529D5-2331-42E1-B758-3944FD08F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" y="13008"/>
                <a:ext cx="12192001" cy="6844992"/>
              </a:xfrm>
              <a:prstGeom prst="rect">
                <a:avLst/>
              </a:prstGeom>
            </p:spPr>
          </p:pic>
          <p:pic>
            <p:nvPicPr>
              <p:cNvPr id="26" name="Marcador de contenido 3">
                <a:extLst>
                  <a:ext uri="{FF2B5EF4-FFF2-40B4-BE49-F238E27FC236}">
                    <a16:creationId xmlns:a16="http://schemas.microsoft.com/office/drawing/2014/main" id="{055B0122-EBD9-44CA-A74A-B2CD056CE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77634" y="3526336"/>
                <a:ext cx="4236729" cy="2371349"/>
              </a:xfrm>
              <a:prstGeom prst="rect">
                <a:avLst/>
              </a:prstGeom>
            </p:spPr>
          </p:pic>
        </p:grpSp>
        <p:pic>
          <p:nvPicPr>
            <p:cNvPr id="24" name="Picture 4" descr="Harvard Business Publishing, HD Png Download , Transparent Png ...">
              <a:extLst>
                <a:ext uri="{FF2B5EF4-FFF2-40B4-BE49-F238E27FC236}">
                  <a16:creationId xmlns:a16="http://schemas.microsoft.com/office/drawing/2014/main" id="{916F100D-C8F4-4E5B-8F09-175BAF29B3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01" y="6069252"/>
              <a:ext cx="866598" cy="485295"/>
            </a:xfrm>
            <a:prstGeom prst="rect">
              <a:avLst/>
            </a:prstGeom>
            <a:ln>
              <a:noFill/>
            </a:ln>
            <a:effectLst>
              <a:glow rad="101600">
                <a:schemeClr val="bg1">
                  <a:alpha val="40000"/>
                </a:schemeClr>
              </a:glow>
              <a:outerShdw blurRad="50800" dist="38100" dir="5400000" algn="t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312B222-70B3-4823-AB2F-CCD3F00D7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79" y="178422"/>
            <a:ext cx="7748477" cy="2387600"/>
          </a:xfrm>
        </p:spPr>
        <p:txBody>
          <a:bodyPr anchor="b"/>
          <a:lstStyle>
            <a:lvl1pPr algn="ctr">
              <a:defRPr sz="45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HN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578698-6EB3-4F16-9FD8-D85212744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367" y="2636219"/>
            <a:ext cx="7420178" cy="792783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887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9" indent="0" algn="ctr">
              <a:buNone/>
              <a:defRPr sz="1200"/>
            </a:lvl4pPr>
            <a:lvl5pPr marL="1371545" indent="0" algn="ctr">
              <a:buNone/>
              <a:defRPr sz="1200"/>
            </a:lvl5pPr>
            <a:lvl6pPr marL="1714432" indent="0" algn="ctr">
              <a:buNone/>
              <a:defRPr sz="1200"/>
            </a:lvl6pPr>
            <a:lvl7pPr marL="2057318" indent="0" algn="ctr">
              <a:buNone/>
              <a:defRPr sz="1200"/>
            </a:lvl7pPr>
            <a:lvl8pPr marL="2400204" indent="0" algn="ctr">
              <a:buNone/>
              <a:defRPr sz="1200"/>
            </a:lvl8pPr>
            <a:lvl9pPr marL="2743091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96A5C-76C4-4518-ABBE-C658F93D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002" y="6462682"/>
            <a:ext cx="2057400" cy="365125"/>
          </a:xfrm>
        </p:spPr>
        <p:txBody>
          <a:bodyPr/>
          <a:lstStyle/>
          <a:p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98892-E181-4408-8623-306F3BC3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6302" y="6462682"/>
            <a:ext cx="3086100" cy="365125"/>
          </a:xfrm>
        </p:spPr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CDFA7D-B611-4899-865A-FBEF92E7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16325" y="6462682"/>
            <a:ext cx="2057400" cy="365125"/>
          </a:xfrm>
        </p:spPr>
        <p:txBody>
          <a:bodyPr/>
          <a:lstStyle/>
          <a:p>
            <a:fld id="{F3DBD31D-652C-4191-B008-B3AF061C185A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3672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Picture 4" descr="UTH - Admisiones">
            <a:extLst>
              <a:ext uri="{FF2B5EF4-FFF2-40B4-BE49-F238E27FC236}">
                <a16:creationId xmlns:a16="http://schemas.microsoft.com/office/drawing/2014/main" id="{887C1397-E3BB-4DA1-BE73-0BA4FC766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465" y="5045424"/>
            <a:ext cx="1937754" cy="6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06D5F5-57A4-4FA9-AE25-25238AAA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D31D-652C-4191-B008-B3AF061C185A}" type="slidenum">
              <a:rPr lang="es-HN" smtClean="0"/>
              <a:t>1</a:t>
            </a:fld>
            <a:endParaRPr lang="es-HN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88C17B-2667-B819-115F-2419AC69DFCC}"/>
              </a:ext>
            </a:extLst>
          </p:cNvPr>
          <p:cNvSpPr txBox="1"/>
          <p:nvPr/>
        </p:nvSpPr>
        <p:spPr>
          <a:xfrm>
            <a:off x="1512384" y="350477"/>
            <a:ext cx="575681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2750" b="1" dirty="0">
                <a:latin typeface="Montserrat" panose="00000500000000000000" pitchFamily="2" charset="0"/>
              </a:rPr>
              <a:t>UNIVERSIDAD TECNOLOGICA DE HONDURAS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030C28-7CD6-187E-AF35-4AE8E822405E}"/>
              </a:ext>
            </a:extLst>
          </p:cNvPr>
          <p:cNvSpPr txBox="1"/>
          <p:nvPr/>
        </p:nvSpPr>
        <p:spPr>
          <a:xfrm>
            <a:off x="1512385" y="1377496"/>
            <a:ext cx="55460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s-HN" sz="21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INTEGRANTES: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Christopher </a:t>
            </a:r>
            <a:r>
              <a:rPr lang="es-HN" sz="21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Martinez</a:t>
            </a:r>
            <a:endParaRPr lang="es-HN" sz="21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Truman Castañeda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 Colindres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INGENIERO WILSON VILLANUEVA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PROGRAMACION WEB 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HN" sz="21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08/10/2025</a:t>
            </a:r>
          </a:p>
        </p:txBody>
      </p:sp>
    </p:spTree>
    <p:extLst>
      <p:ext uri="{BB962C8B-B14F-4D97-AF65-F5344CB8AC3E}">
        <p14:creationId xmlns:p14="http://schemas.microsoft.com/office/powerpoint/2010/main" val="355818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6262E0-A982-4BFE-F29E-BA058A6EB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9429" y="-73313"/>
            <a:ext cx="9802857" cy="69313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410" y="436418"/>
            <a:ext cx="7772400" cy="1470025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Perfil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del Proyecto: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37117"/>
            <a:ext cx="6400800" cy="1752600"/>
          </a:xfrm>
        </p:spPr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Tienda web de </a:t>
            </a:r>
            <a:r>
              <a:rPr dirty="0" err="1">
                <a:latin typeface="Arial Rounded MT Bold" panose="020F0704030504030204" pitchFamily="34" charset="0"/>
              </a:rPr>
              <a:t>suplementos</a:t>
            </a:r>
            <a:r>
              <a:rPr dirty="0">
                <a:latin typeface="Arial Rounded MT Bold" panose="020F0704030504030204" pitchFamily="34" charset="0"/>
              </a:rPr>
              <a:t> para </a:t>
            </a:r>
            <a:r>
              <a:rPr dirty="0" err="1">
                <a:latin typeface="Arial Rounded MT Bold" panose="020F0704030504030204" pitchFamily="34" charset="0"/>
              </a:rPr>
              <a:t>ejercicio</a:t>
            </a:r>
            <a:endParaRPr dirty="0">
              <a:latin typeface="Arial Rounded MT Bold" panose="020F0704030504030204" pitchFamily="34" charset="0"/>
            </a:endParaRPr>
          </a:p>
          <a:p>
            <a:r>
              <a:rPr dirty="0">
                <a:latin typeface="Arial Rounded MT Bold" panose="020F0704030504030204" pitchFamily="34" charset="0"/>
              </a:rPr>
              <a:t>HTML5, CSS3 y JavaScript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3689F9-9E27-22B2-46F4-ED048E75D4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462" t="12430" r="35740" b="1246"/>
          <a:stretch>
            <a:fillRect/>
          </a:stretch>
        </p:blipFill>
        <p:spPr>
          <a:xfrm>
            <a:off x="2806505" y="3889717"/>
            <a:ext cx="3784209" cy="2968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73E933-59B8-9FAE-3E39-EAF7A1F9E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9429" y="-73313"/>
            <a:ext cx="9802857" cy="69313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Resumen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ejecutivo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sitio web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transaccional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para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venta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suplementos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deportivos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Ofrece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una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experiencia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rápida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segura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centrada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en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el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usuario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Utiliza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tecnologías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estándar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(HTML5, CSS3,</a:t>
            </a:r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BOOTSTRAP,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JS) y un backend</a:t>
            </a:r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Node.js.</a:t>
            </a:r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H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Mysql</a:t>
            </a:r>
            <a:endParaRPr lang="es-H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Control de versiones </a:t>
            </a:r>
            <a:r>
              <a:rPr lang="es-H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git-github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BD02684-D8AB-C99B-86F7-786F4B84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9429" y="-73313"/>
            <a:ext cx="9802857" cy="69313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Objetivos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proyecto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7106" y="2469039"/>
            <a:ext cx="6942406" cy="3337560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Crear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una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tienda online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funcional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segura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Diseñar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interfaz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responsiva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accesible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Implementar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catálogo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pagos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seguimiento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pedidos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Ofrecer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panel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administrativo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medidas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seguridad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D984ADF-A59C-4252-FEBA-2F8416833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7586" y="0"/>
            <a:ext cx="96991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Alcance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proyecto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197" y="2113089"/>
            <a:ext cx="6703255" cy="3239086"/>
          </a:xfrm>
        </p:spPr>
        <p:txBody>
          <a:bodyPr>
            <a:normAutofit lnSpcReduction="10000"/>
          </a:bodyPr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Incluye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:</a:t>
            </a:r>
            <a:endParaRPr lang="es-E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Arial Rounded MT Bold" panose="020F0704030504030204" pitchFamily="34" charset="0"/>
              </a:rPr>
              <a:t>	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Página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inicio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categorías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ficha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lang="es-ES" dirty="0">
                <a:solidFill>
                  <a:schemeClr val="bg1"/>
                </a:solidFill>
                <a:latin typeface="Arial Rounded MT Bold" panose="020F0704030504030204" pitchFamily="34" charset="0"/>
              </a:rPr>
              <a:t>	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producto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Arial Rounded MT Bold" panose="020F0704030504030204" pitchFamily="34" charset="0"/>
              </a:rPr>
              <a:t>	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Carrito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checkout, gestión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usuarios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lang="es-ES" dirty="0">
                <a:solidFill>
                  <a:schemeClr val="bg1"/>
                </a:solidFill>
                <a:latin typeface="Arial Rounded MT Bold" panose="020F0704030504030204" pitchFamily="34" charset="0"/>
              </a:rPr>
              <a:t>	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pagos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Panel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administrativo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reportes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9B0C2FC-235C-1124-235D-CB9ECBF83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Requisitos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funcionales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973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Gestión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usuarios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autenticación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Catálogo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con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búsqueda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filtros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Carrito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checkout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seguro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Procesamiento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pagos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endParaRPr lang="es-E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Gestión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pedidos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notificaciones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• Panel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administrativo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(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productos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ventas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stock).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48DB025-F5DB-24DD-8543-125AFEDFD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Arquitectura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del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sistema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Frontend: HTML5, CSS3</a:t>
            </a:r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BOOTSTRAP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, JS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Backend: Node.js + Express</a:t>
            </a:r>
            <a:r>
              <a:rPr lang="es-H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+ MYSQL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1026" name="Picture 2" descr="Los mejores ejemplos HTML y HTML5">
            <a:extLst>
              <a:ext uri="{FF2B5EF4-FFF2-40B4-BE49-F238E27FC236}">
                <a16:creationId xmlns:a16="http://schemas.microsoft.com/office/drawing/2014/main" id="{4DC67375-A970-199E-114B-85138936E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250" y="3504806"/>
            <a:ext cx="4320000" cy="288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E9ACE09-4381-EA93-B38C-C2A5D2082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Plan de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desarrollo</a:t>
            </a:r>
            <a:endParaRPr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Fase 1: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Diseño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frontend 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Fase 2: Backend e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integración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Fase 3: </a:t>
            </a:r>
            <a:r>
              <a:rPr lang="es-ES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calidad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administración </a:t>
            </a:r>
          </a:p>
          <a:p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Fase 4: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Producción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</a:t>
            </a:r>
            <a:r>
              <a:rPr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soporte</a:t>
            </a:r>
            <a:r>
              <a:rPr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62CFE-503A-61B4-0245-18DBA1F4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59BC5BE7-2543-C1AF-B1F6-9D1686E1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4652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327E2C0-B759-F315-FF14-7D5C74B2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250760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D63DD-AB34-4950-FFC0-F303B746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7DD763-A5C0-5965-2E6E-D3C1FF7DD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1290EAC-56CB-D23E-8BEF-56FDF82A9FC3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106315" y="166209"/>
            <a:ext cx="3960000" cy="64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EA30B4A-5B98-25B1-7D6F-0AE35F9863AC}"/>
              </a:ext>
            </a:extLst>
          </p:cNvPr>
          <p:cNvSpPr txBox="1"/>
          <p:nvPr/>
        </p:nvSpPr>
        <p:spPr>
          <a:xfrm>
            <a:off x="28630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EN FIGMA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36B6C3-D3BD-A3A1-F8EB-147DB9EA0F11}"/>
              </a:ext>
            </a:extLst>
          </p:cNvPr>
          <p:cNvSpPr txBox="1"/>
          <p:nvPr/>
        </p:nvSpPr>
        <p:spPr>
          <a:xfrm>
            <a:off x="707229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</a:p>
        </p:txBody>
      </p:sp>
    </p:spTree>
    <p:extLst>
      <p:ext uri="{BB962C8B-B14F-4D97-AF65-F5344CB8AC3E}">
        <p14:creationId xmlns:p14="http://schemas.microsoft.com/office/powerpoint/2010/main" val="2224634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395C-C9A6-E256-2306-DE8D6C9E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ABCCB-7ADD-1024-AC57-B1FC6226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56AE59-AFD2-468E-C57B-2169B6AED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27C937D-EDAF-F4B8-91D9-213C48375D08}"/>
              </a:ext>
            </a:extLst>
          </p:cNvPr>
          <p:cNvSpPr txBox="1"/>
          <p:nvPr/>
        </p:nvSpPr>
        <p:spPr>
          <a:xfrm>
            <a:off x="28630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EN FIGMA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3F618A9-6D9A-9F7D-63EB-1F9F4A9F6007}"/>
              </a:ext>
            </a:extLst>
          </p:cNvPr>
          <p:cNvSpPr txBox="1"/>
          <p:nvPr/>
        </p:nvSpPr>
        <p:spPr>
          <a:xfrm>
            <a:off x="707229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</a:p>
        </p:txBody>
      </p:sp>
      <p:pic>
        <p:nvPicPr>
          <p:cNvPr id="8" name="Marcador de contenido 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6B2B2EA1-1088-F175-B10B-1B88766B9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65973" y="2487990"/>
            <a:ext cx="8229600" cy="1465233"/>
          </a:xfrm>
        </p:spPr>
      </p:pic>
    </p:spTree>
    <p:extLst>
      <p:ext uri="{BB962C8B-B14F-4D97-AF65-F5344CB8AC3E}">
        <p14:creationId xmlns:p14="http://schemas.microsoft.com/office/powerpoint/2010/main" val="929185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B8219-0053-4F7D-56B0-455F4099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2D85E-0968-3EA6-7E49-D94DBB56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845661-AD4D-6C96-3FC5-931F2FD95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E3AAF41-4132-08A2-369D-0A2C1159968A}"/>
              </a:ext>
            </a:extLst>
          </p:cNvPr>
          <p:cNvSpPr txBox="1"/>
          <p:nvPr/>
        </p:nvSpPr>
        <p:spPr>
          <a:xfrm>
            <a:off x="28630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EN FIGMA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A8B10C-805D-ED16-61FD-DC7E54F4ECCB}"/>
              </a:ext>
            </a:extLst>
          </p:cNvPr>
          <p:cNvSpPr txBox="1"/>
          <p:nvPr/>
        </p:nvSpPr>
        <p:spPr>
          <a:xfrm>
            <a:off x="707229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CUERPO</a:t>
            </a:r>
          </a:p>
        </p:txBody>
      </p:sp>
      <p:pic>
        <p:nvPicPr>
          <p:cNvPr id="20" name="Marcador de contenido 1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E93CE3A-7BAC-BFE7-8437-77CD44F42A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159289" y="459304"/>
            <a:ext cx="3600000" cy="5760000"/>
          </a:xfrm>
        </p:spPr>
      </p:pic>
    </p:spTree>
    <p:extLst>
      <p:ext uri="{BB962C8B-B14F-4D97-AF65-F5344CB8AC3E}">
        <p14:creationId xmlns:p14="http://schemas.microsoft.com/office/powerpoint/2010/main" val="312498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F420-C9B3-8993-84AC-E25EB0C4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03CCE-872D-7F4D-4DC7-AEAD85CD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D64D48-16E9-BB51-F093-61ACD838D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A9C38F6-BE1C-635C-D468-918BBE6E7D66}"/>
              </a:ext>
            </a:extLst>
          </p:cNvPr>
          <p:cNvSpPr txBox="1"/>
          <p:nvPr/>
        </p:nvSpPr>
        <p:spPr>
          <a:xfrm>
            <a:off x="28630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EN FIGMA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A8E061-D4BE-74A2-B029-414816F06463}"/>
              </a:ext>
            </a:extLst>
          </p:cNvPr>
          <p:cNvSpPr txBox="1"/>
          <p:nvPr/>
        </p:nvSpPr>
        <p:spPr>
          <a:xfrm>
            <a:off x="7072295" y="89972"/>
            <a:ext cx="245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DIVISORES CUERPO</a:t>
            </a:r>
          </a:p>
        </p:txBody>
      </p:sp>
      <p:pic>
        <p:nvPicPr>
          <p:cNvPr id="7" name="Marcador de contenido 6" descr="Texto&#10;&#10;El contenido generado por IA puede ser incorrecto.">
            <a:extLst>
              <a:ext uri="{FF2B5EF4-FFF2-40B4-BE49-F238E27FC236}">
                <a16:creationId xmlns:a16="http://schemas.microsoft.com/office/drawing/2014/main" id="{1CC68E11-AB4D-D8FB-9406-1867C6C42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6813" y="846138"/>
            <a:ext cx="3614958" cy="1800000"/>
          </a:xfrm>
        </p:spPr>
      </p:pic>
      <p:pic>
        <p:nvPicPr>
          <p:cNvPr id="9" name="Imagen 8" descr="Aplicación&#10;&#10;El contenido generado por IA puede ser incorrecto.">
            <a:extLst>
              <a:ext uri="{FF2B5EF4-FFF2-40B4-BE49-F238E27FC236}">
                <a16:creationId xmlns:a16="http://schemas.microsoft.com/office/drawing/2014/main" id="{5333F4C0-AC0B-C4B7-DB75-7DD234496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981" y="853936"/>
            <a:ext cx="4712019" cy="1800000"/>
          </a:xfrm>
          <a:prstGeom prst="rect">
            <a:avLst/>
          </a:prstGeom>
        </p:spPr>
      </p:pic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BE290E4-2ED0-A441-D9D8-3E37788B4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981" y="2900001"/>
            <a:ext cx="3504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2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EFC7-D281-349A-83C5-1E896B24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78B00-FBC2-4B2C-05CF-8EB05422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HN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4D9747-EB92-FD11-94E4-B58CCDE67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812" y="0"/>
            <a:ext cx="9699171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992C599-B176-B3D3-23E1-1A85C5F50B7A}"/>
              </a:ext>
            </a:extLst>
          </p:cNvPr>
          <p:cNvSpPr txBox="1"/>
          <p:nvPr/>
        </p:nvSpPr>
        <p:spPr>
          <a:xfrm>
            <a:off x="28630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EN FIGMA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72EA579-4FE3-25C6-B2FE-8FDFAD7EE536}"/>
              </a:ext>
            </a:extLst>
          </p:cNvPr>
          <p:cNvSpPr txBox="1"/>
          <p:nvPr/>
        </p:nvSpPr>
        <p:spPr>
          <a:xfrm>
            <a:off x="7072295" y="89972"/>
            <a:ext cx="24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</a:p>
        </p:txBody>
      </p:sp>
      <p:pic>
        <p:nvPicPr>
          <p:cNvPr id="8" name="Marcador de contenido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0D74FE3-134F-721B-2CBD-DFB569106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65973" y="2084755"/>
            <a:ext cx="8229600" cy="2686902"/>
          </a:xfrm>
        </p:spPr>
      </p:pic>
    </p:spTree>
    <p:extLst>
      <p:ext uri="{BB962C8B-B14F-4D97-AF65-F5344CB8AC3E}">
        <p14:creationId xmlns:p14="http://schemas.microsoft.com/office/powerpoint/2010/main" val="3920705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C651AB10-FF01-2AB1-F45B-76585344A58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43529"/>
            <a:ext cx="8229600" cy="5760000"/>
          </a:xfrm>
        </p:spPr>
      </p:pic>
    </p:spTree>
    <p:extLst>
      <p:ext uri="{BB962C8B-B14F-4D97-AF65-F5344CB8AC3E}">
        <p14:creationId xmlns:p14="http://schemas.microsoft.com/office/powerpoint/2010/main" val="126629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273</Words>
  <Application>Microsoft Office PowerPoint</Application>
  <PresentationFormat>Presentación en pantalla (4:3)</PresentationFormat>
  <Paragraphs>52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Rounded MT Bold</vt:lpstr>
      <vt:lpstr>Calibri</vt:lpstr>
      <vt:lpstr>Montserrat</vt:lpstr>
      <vt:lpstr>Times New Roman</vt:lpstr>
      <vt:lpstr>Wingdings</vt:lpstr>
      <vt:lpstr>Office Theme</vt:lpstr>
      <vt:lpstr>Presentación de PowerPoint</vt:lpstr>
      <vt:lpstr>Perfil del Proyecto:</vt:lpstr>
      <vt:lpstr>Resumen ejecutivo</vt:lpstr>
      <vt:lpstr>Objetivos del proyecto</vt:lpstr>
      <vt:lpstr>Alcance del proyecto</vt:lpstr>
      <vt:lpstr>Requisitos funcionales</vt:lpstr>
      <vt:lpstr>Arquitectura del sistema</vt:lpstr>
      <vt:lpstr>Plan de 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truman castañeda</cp:lastModifiedBy>
  <cp:revision>17</cp:revision>
  <dcterms:created xsi:type="dcterms:W3CDTF">2013-01-27T09:14:16Z</dcterms:created>
  <dcterms:modified xsi:type="dcterms:W3CDTF">2025-10-10T01:38:21Z</dcterms:modified>
  <cp:category/>
</cp:coreProperties>
</file>